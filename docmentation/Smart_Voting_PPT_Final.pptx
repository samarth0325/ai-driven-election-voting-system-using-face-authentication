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  <p:sldMasterId id="2147483674" r:id="rId3"/>
  </p:sldMasterIdLst>
  <p:sldIdLst>
    <p:sldId id="256" r:id="rId4"/>
    <p:sldId id="276" r:id="rId5"/>
    <p:sldId id="257" r:id="rId6"/>
    <p:sldId id="278" r:id="rId7"/>
    <p:sldId id="279" r:id="rId8"/>
    <p:sldId id="258" r:id="rId9"/>
    <p:sldId id="264" r:id="rId10"/>
    <p:sldId id="268" r:id="rId11"/>
    <p:sldId id="265" r:id="rId12"/>
    <p:sldId id="282" r:id="rId13"/>
    <p:sldId id="270" r:id="rId14"/>
    <p:sldId id="269" r:id="rId15"/>
    <p:sldId id="271" r:id="rId16"/>
    <p:sldId id="266" r:id="rId17"/>
    <p:sldId id="281" r:id="rId18"/>
    <p:sldId id="280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5D29B-B3D3-4915-9B21-817C9B3D8263}" v="29" dt="2025-09-09T15:04:35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88" y="-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48;p11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249;p11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0" name="Google Shape;251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" name="Google Shape;252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3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4" name="Google Shape;255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5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6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6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4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38" name="Google Shape;279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9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0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5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7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98;p1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299;p1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7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58" name="Google Shape;302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9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0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4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5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68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5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6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0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9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0" name="Google Shape;334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91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2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7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98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09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13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4" name="Google Shape;358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Google Shape;359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6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8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29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1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6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3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4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401;p15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402;p1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1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2" name="Google Shape;404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Google Shape;405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4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5" name="Google Shape;407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6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7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9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0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437;p17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Google Shape;438;p17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3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4" name="Google Shape;440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441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7" name="Google Shape;443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8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89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3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4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6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7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4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5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8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09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482;p18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Google Shape;483;p18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1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2" name="Google Shape;485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Google Shape;486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4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5" name="Google Shape;488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6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7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9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1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2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3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4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5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2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3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4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6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7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578;p20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Google Shape;579;p20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5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6" name="Google Shape;581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7" name="Google Shape;582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8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299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0" name="Google Shape;585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01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2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6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7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09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0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3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4" name="Google Shape;599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15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6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7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8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0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1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3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4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1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2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5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6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7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0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1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2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3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4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5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6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7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6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7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4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5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8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79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0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1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5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6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8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89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1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5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41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442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3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44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45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46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7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48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9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2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453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5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456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3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464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5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7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468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9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6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77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78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79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80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1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4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85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6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7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8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9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2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738;p24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Google Shape;739;p2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6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497" name="Google Shape;741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8" name="Google Shape;742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99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0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1" name="Google Shape;745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02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3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5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6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7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2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3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9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0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1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2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24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5" name="Google Shape;769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26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27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8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1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2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3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4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5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6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66;p4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Google Shape;67;p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8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59" name="Google Shape;69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0" name="Google Shape;70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61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2" name="Google Shape;72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3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4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5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68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69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6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77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93;p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Google Shape;94;p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4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85" name="Google Shape;96;p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86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87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1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2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3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4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95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6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2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3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4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6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07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8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6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17" name="Google Shape;128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8" name="Google Shape;129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170;p8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Google Shape;171;p8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3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54" name="Google Shape;173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5" name="Google Shape;174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6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57" name="Google Shape;176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8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59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63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64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5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6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1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72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196;p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Google Shape;197;p9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8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79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0" name="Google Shape;200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81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82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3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4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1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692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3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4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9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0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1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2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03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04" name="Google Shape;224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05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06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7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8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0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11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2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3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14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719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0" name="Google Shape;240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1" name="Google Shape;241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421;p16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422;p1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423;p16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1" name="Google Shape;425;p1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2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3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5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6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529;p1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oogle Shape;530;p19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531;p19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0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1" name="Google Shape;533;p1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2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3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7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68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0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1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8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79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2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3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637;p21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Google Shape;638;p21"/>
          <p:cNvPicPr/>
          <p:nvPr/>
        </p:nvPicPr>
        <p:blipFill>
          <a:blip r:embed="rId3">
            <a:alphaModFix amt="50000"/>
          </a:blip>
          <a:stretch/>
        </p:blipFill>
        <p:spPr>
          <a:xfrm rot="19152600" flipH="1">
            <a:off x="7219800" y="-200592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639;p21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0" name="Google Shape;640;p21"/>
          <p:cNvGrpSpPr/>
          <p:nvPr/>
        </p:nvGrpSpPr>
        <p:grpSpPr>
          <a:xfrm>
            <a:off x="7780680" y="3676680"/>
            <a:ext cx="1963080" cy="2007000"/>
            <a:chOff x="7780680" y="3676680"/>
            <a:chExt cx="1963080" cy="2007000"/>
          </a:xfrm>
        </p:grpSpPr>
        <p:pic>
          <p:nvPicPr>
            <p:cNvPr id="401" name="Google Shape;641;p2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>
              <a:off x="7758720" y="36986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2" name="Google Shape;642;p21"/>
            <p:cNvGrpSpPr/>
            <p:nvPr/>
          </p:nvGrpSpPr>
          <p:grpSpPr>
            <a:xfrm>
              <a:off x="9025560" y="4566240"/>
              <a:ext cx="326520" cy="318240"/>
              <a:chOff x="9025560" y="4566240"/>
              <a:chExt cx="326520" cy="318240"/>
            </a:xfrm>
          </p:grpSpPr>
          <p:sp>
            <p:nvSpPr>
              <p:cNvPr id="403" name="Google Shape;643;p21"/>
              <p:cNvSpPr/>
              <p:nvPr/>
            </p:nvSpPr>
            <p:spPr>
              <a:xfrm>
                <a:off x="9151560" y="48628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644;p21"/>
              <p:cNvSpPr/>
              <p:nvPr/>
            </p:nvSpPr>
            <p:spPr>
              <a:xfrm>
                <a:off x="9025560" y="468468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45;p21"/>
              <p:cNvSpPr/>
              <p:nvPr/>
            </p:nvSpPr>
            <p:spPr>
              <a:xfrm>
                <a:off x="9163080" y="481896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46;p21"/>
              <p:cNvSpPr/>
              <p:nvPr/>
            </p:nvSpPr>
            <p:spPr>
              <a:xfrm>
                <a:off x="9050400" y="456624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7" name="Google Shape;647;p21"/>
              <p:cNvSpPr/>
              <p:nvPr/>
            </p:nvSpPr>
            <p:spPr>
              <a:xfrm>
                <a:off x="9178920" y="47764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8" name="Google Shape;648;p21"/>
              <p:cNvSpPr/>
              <p:nvPr/>
            </p:nvSpPr>
            <p:spPr>
              <a:xfrm>
                <a:off x="9194400" y="47336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49;p21"/>
              <p:cNvSpPr/>
              <p:nvPr/>
            </p:nvSpPr>
            <p:spPr>
              <a:xfrm>
                <a:off x="9223920" y="464184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50;p21"/>
              <p:cNvSpPr/>
              <p:nvPr/>
            </p:nvSpPr>
            <p:spPr>
              <a:xfrm>
                <a:off x="9261360" y="462096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51;p21"/>
              <p:cNvSpPr/>
              <p:nvPr/>
            </p:nvSpPr>
            <p:spPr>
              <a:xfrm>
                <a:off x="9298440" y="45918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2" name="Google Shape;652;p21"/>
            <p:cNvGrpSpPr/>
            <p:nvPr/>
          </p:nvGrpSpPr>
          <p:grpSpPr>
            <a:xfrm>
              <a:off x="9068760" y="5229360"/>
              <a:ext cx="268200" cy="268560"/>
              <a:chOff x="9068760" y="5229360"/>
              <a:chExt cx="268200" cy="268560"/>
            </a:xfrm>
          </p:grpSpPr>
          <p:sp>
            <p:nvSpPr>
              <p:cNvPr id="413" name="Google Shape;653;p21"/>
              <p:cNvSpPr/>
              <p:nvPr/>
            </p:nvSpPr>
            <p:spPr>
              <a:xfrm>
                <a:off x="9127080" y="538776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654;p21"/>
              <p:cNvSpPr/>
              <p:nvPr/>
            </p:nvSpPr>
            <p:spPr>
              <a:xfrm>
                <a:off x="9226440" y="5388480"/>
                <a:ext cx="50760" cy="50760"/>
              </a:xfrm>
              <a:custGeom>
                <a:avLst/>
                <a:gdLst>
                  <a:gd name="textAreaLeft" fmla="*/ 0 w 50760"/>
                  <a:gd name="textAreaRight" fmla="*/ 51120 w 5076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655;p21"/>
              <p:cNvSpPr/>
              <p:nvPr/>
            </p:nvSpPr>
            <p:spPr>
              <a:xfrm>
                <a:off x="9127080" y="5288760"/>
                <a:ext cx="50400" cy="5076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56;p21"/>
              <p:cNvSpPr/>
              <p:nvPr/>
            </p:nvSpPr>
            <p:spPr>
              <a:xfrm>
                <a:off x="9225360" y="5288760"/>
                <a:ext cx="51840" cy="5184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57;p21"/>
              <p:cNvSpPr/>
              <p:nvPr/>
            </p:nvSpPr>
            <p:spPr>
              <a:xfrm>
                <a:off x="9188280" y="5351760"/>
                <a:ext cx="27000" cy="2664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58;p21"/>
              <p:cNvSpPr/>
              <p:nvPr/>
            </p:nvSpPr>
            <p:spPr>
              <a:xfrm>
                <a:off x="9123120" y="5285520"/>
                <a:ext cx="157680" cy="15768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59;p21"/>
              <p:cNvSpPr/>
              <p:nvPr/>
            </p:nvSpPr>
            <p:spPr>
              <a:xfrm>
                <a:off x="9068760" y="5229360"/>
                <a:ext cx="268200" cy="2685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268560"/>
                  <a:gd name="textAreaBottom" fmla="*/ 268920 h 26856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0" name="Google Shape;660;p21"/>
            <p:cNvGrpSpPr/>
            <p:nvPr/>
          </p:nvGrpSpPr>
          <p:grpSpPr>
            <a:xfrm>
              <a:off x="8429040" y="4834440"/>
              <a:ext cx="399240" cy="412560"/>
              <a:chOff x="8429040" y="4834440"/>
              <a:chExt cx="399240" cy="412560"/>
            </a:xfrm>
          </p:grpSpPr>
          <p:sp>
            <p:nvSpPr>
              <p:cNvPr id="421" name="Google Shape;661;p21"/>
              <p:cNvSpPr/>
              <p:nvPr/>
            </p:nvSpPr>
            <p:spPr>
              <a:xfrm>
                <a:off x="8429040" y="4834440"/>
                <a:ext cx="399240" cy="261000"/>
              </a:xfrm>
              <a:custGeom>
                <a:avLst/>
                <a:gdLst>
                  <a:gd name="textAreaLeft" fmla="*/ 0 w 399240"/>
                  <a:gd name="textAreaRight" fmla="*/ 399600 w 399240"/>
                  <a:gd name="textAreaTop" fmla="*/ 0 h 261000"/>
                  <a:gd name="textAreaBottom" fmla="*/ 261360 h 26100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662;p21"/>
              <p:cNvSpPr/>
              <p:nvPr/>
            </p:nvSpPr>
            <p:spPr>
              <a:xfrm>
                <a:off x="8708400" y="5195160"/>
                <a:ext cx="49680" cy="5184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63;p21"/>
              <p:cNvSpPr/>
              <p:nvPr/>
            </p:nvSpPr>
            <p:spPr>
              <a:xfrm>
                <a:off x="8645040" y="5115240"/>
                <a:ext cx="152280" cy="54720"/>
              </a:xfrm>
              <a:custGeom>
                <a:avLst/>
                <a:gdLst>
                  <a:gd name="textAreaLeft" fmla="*/ 0 w 152280"/>
                  <a:gd name="textAreaRight" fmla="*/ 152640 w 15228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666;p2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6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7" name="Google Shape;668;p22"/>
            <p:cNvPicPr/>
            <p:nvPr/>
          </p:nvPicPr>
          <p:blipFill>
            <a:blip r:embed="rId3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28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29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1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2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435" name="Google Shape;676;p22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Google Shape;677;p22"/>
          <p:cNvPicPr/>
          <p:nvPr/>
        </p:nvPicPr>
        <p:blipFill>
          <a:blip r:embed="rId5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785;p2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Google Shape;786;p25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2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3" name="Google Shape;788;p2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4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5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0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1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55" name="Google Shape;800;p25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136;p6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Google Shape;137;p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2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23" name="Google Shape;139;p6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4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25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0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1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635" name="Google Shape;151;p6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154;p7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Google Shape;155;p7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Google Shape;156;p7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0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41" name="Google Shape;158;p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2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43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4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5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46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4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Smart Voting System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Actor"/>
                <a:cs typeface="Times New Roman" panose="02020603050405020304" pitchFamily="18" charset="0"/>
              </a:rPr>
              <a:t>Modern Voting with Face Recognition</a:t>
            </a:r>
            <a:endParaRPr lang="en-US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8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098698" y="1045535"/>
            <a:ext cx="6741041" cy="9285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20000"/>
              </a:lnSpc>
              <a:tabLst>
                <a:tab pos="0" algn="l"/>
              </a:tabLst>
            </a:pPr>
            <a:r>
              <a:rPr lang="en-US" sz="2700" dirty="0">
                <a:solidFill>
                  <a:srgbClr val="FFFFFF"/>
                </a:solidFill>
                <a:latin typeface="Calibri"/>
                <a:ea typeface="Actor"/>
              </a:rPr>
              <a:t>Project:- Smart Voting System Using Face Recognition </a:t>
            </a:r>
            <a:br>
              <a:rPr lang="en-US" sz="3200" dirty="0">
                <a:solidFill>
                  <a:srgbClr val="FFFFFF"/>
                </a:solidFill>
                <a:latin typeface="OpenSymbol"/>
              </a:rPr>
            </a:b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subTitle"/>
          </p:nvPr>
        </p:nvSpPr>
        <p:spPr>
          <a:xfrm>
            <a:off x="1642816" y="1538176"/>
            <a:ext cx="6806523" cy="34024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       Student Name</a:t>
            </a: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                      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Roll No</a:t>
            </a:r>
            <a:endParaRPr lang="en-US" sz="1800" dirty="0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       Aditya Kapure                      AI4056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       Samarth Deshmukhe          AI4017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       Shreyash Babar                    AI4018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       Vinayak Bhise                       AI4019</a:t>
            </a:r>
            <a:endParaRPr lang="en-US" sz="1800" dirty="0">
              <a:solidFill>
                <a:srgbClr val="FFFFFF"/>
              </a:solidFill>
              <a:latin typeface="Calibri"/>
              <a:ea typeface="Actor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Calibri"/>
              <a:ea typeface="Actor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Department</a:t>
            </a: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- Artificial </a:t>
            </a:r>
            <a:r>
              <a:rPr lang="en-IN" sz="1800" dirty="0">
                <a:solidFill>
                  <a:srgbClr val="FFFFFF"/>
                </a:solidFill>
                <a:latin typeface="Calibri"/>
                <a:ea typeface="Actor"/>
              </a:rPr>
              <a:t>Intelligence and Machine Learning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Guide: Prof. </a:t>
            </a:r>
            <a:r>
              <a:rPr lang="en-US" sz="1800" dirty="0" err="1">
                <a:solidFill>
                  <a:srgbClr val="FFFFFF"/>
                </a:solidFill>
                <a:latin typeface="Calibri"/>
                <a:ea typeface="Actor"/>
              </a:rPr>
              <a:t>R.P.Bhilawade</a:t>
            </a: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Date: 08/09/2025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Introduction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Actor"/>
                <a:cs typeface="Times New Roman" panose="02020603050405020304" pitchFamily="18" charset="0"/>
              </a:rPr>
              <a:t>This project addresses the need for a 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Actor"/>
                <a:cs typeface="Times New Roman" panose="02020603050405020304" pitchFamily="18" charset="0"/>
              </a:rPr>
              <a:t>secure voting system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Actor"/>
                <a:cs typeface="Times New Roman" panose="02020603050405020304" pitchFamily="18" charset="0"/>
              </a:rPr>
              <a:t> using face recognition technology. It aims to improve election integrity by preventing fraud and ensuring voter authenticity in today’s digital era.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1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2264408" y="397482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Problem Statement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subTitle"/>
          </p:nvPr>
        </p:nvSpPr>
        <p:spPr>
          <a:xfrm>
            <a:off x="1339703" y="1773779"/>
            <a:ext cx="6535478" cy="27982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Current voting methods are vulnerable to fraud and malpractice.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Manual voter verification is time-consuming and prone to human error.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Existing biometric systems (fingerprint, iris) have limitations: duplication risks, cost, or intrusive nature.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dirty="0">
                <a:solidFill>
                  <a:srgbClr val="FFFFFF"/>
                </a:solidFill>
                <a:latin typeface="Calibri"/>
                <a:ea typeface="Actor"/>
              </a:rPr>
              <a:t>Gap: </a:t>
            </a: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Lack of a user-friendly, automated, and fully integrated voting solution using face recognition.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1566530" y="429672"/>
            <a:ext cx="5616969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Objectives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subTitle"/>
          </p:nvPr>
        </p:nvSpPr>
        <p:spPr>
          <a:xfrm>
            <a:off x="1509823" y="1821712"/>
            <a:ext cx="6464595" cy="25518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To design and develop a secure voting system using 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face recognition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 technology.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To analyze system performance and improve voter authenticity and election transparency.</a:t>
            </a:r>
            <a:endParaRPr lang="en-US" sz="1800" dirty="0">
              <a:solidFill>
                <a:srgbClr val="FFFFFF"/>
              </a:solidFill>
              <a:latin typeface="Calibri"/>
              <a:ea typeface="Actor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To ensure unique and secure voter identification.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To develop a user-friendly digital voting interface.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Calibri"/>
              <a:ea typeface="Actor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4800" b="1" dirty="0">
                <a:solidFill>
                  <a:srgbClr val="FFFFFF"/>
                </a:solidFill>
                <a:latin typeface="Calibri"/>
                <a:ea typeface="Montserrat"/>
              </a:rPr>
              <a:t>Overview of Smart Voting System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8FDCF7"/>
                </a:solidFill>
                <a:effectLst/>
                <a:uFillTx/>
                <a:latin typeface="Calibri"/>
                <a:ea typeface="Montserrat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1704427" y="29411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Scope 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Montserrat"/>
              </a:rPr>
              <a:t>of Work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 type="subTitle"/>
          </p:nvPr>
        </p:nvSpPr>
        <p:spPr>
          <a:xfrm>
            <a:off x="1647719" y="1509824"/>
            <a:ext cx="6021900" cy="29204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of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voting system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face recognition.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collection, preprocessing, authentication, and secure voting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Voters can cast votes only after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 face verification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Requires good camera quality, proper lighting, and a pre-registered voter database.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5062-475D-4742-F6DF-7A3075C3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>
            <a:extLst>
              <a:ext uri="{FF2B5EF4-FFF2-40B4-BE49-F238E27FC236}">
                <a16:creationId xmlns:a16="http://schemas.microsoft.com/office/drawing/2014/main" id="{4C30231D-9BC2-02AD-CA3B-1A2ECFB4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149" y="199007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Literature Review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2">
            <a:extLst>
              <a:ext uri="{FF2B5EF4-FFF2-40B4-BE49-F238E27FC236}">
                <a16:creationId xmlns:a16="http://schemas.microsoft.com/office/drawing/2014/main" id="{854663A5-1BEB-A705-16DC-D572FE0B130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68818" y="1255967"/>
            <a:ext cx="6769395" cy="3688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Biometric Voting Systems: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Fingerprint and iris recognition widely studied, but fingerprints are prone to duplication, and iris scanners are costly/intrusive.</a:t>
            </a:r>
          </a:p>
          <a:p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Recognition Advantages: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Non-intrusive, user-friendly, requires only a camera.</a:t>
            </a:r>
          </a:p>
          <a:p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Earlier Approaches: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worked only in controlled environments.</a:t>
            </a:r>
          </a:p>
          <a:p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 Approaches: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CNN-based models (e.g., FaceNet,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ArcFace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improved accuracy and robustness.</a:t>
            </a:r>
          </a:p>
          <a:p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drops in poor lighting, pose variations, or occlusion; few systems address anti-spoofing.</a:t>
            </a:r>
          </a:p>
          <a:p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Gap: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works focus only on authentication, not full end-to-end secure voting integration.</a:t>
            </a:r>
          </a:p>
          <a:p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Calibri"/>
              <a:ea typeface="Actor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7923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2895220" y="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Methodology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 type="subTitle"/>
          </p:nvPr>
        </p:nvSpPr>
        <p:spPr>
          <a:xfrm>
            <a:off x="1157531" y="1062360"/>
            <a:ext cx="7634177" cy="392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Data Collection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and store registered voters’ facial images in a secure database.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Preprocessing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normalization, resizing, and enhancement.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 reduction and face detection using </a:t>
            </a:r>
            <a:r>
              <a:rPr lang="en-IN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Neural Network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Feature Extraction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CNN models (FaceNet, </a:t>
            </a:r>
            <a:r>
              <a:rPr lang="en-US" sz="16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ArcFace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custom deep CNN) to generate embeddings.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Authentication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live image embedding with stored template.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match is successful → voter is authenticated.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000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D7413-94A1-DE42-37BE-EE7A72806555}"/>
              </a:ext>
            </a:extLst>
          </p:cNvPr>
          <p:cNvSpPr txBox="1"/>
          <p:nvPr/>
        </p:nvSpPr>
        <p:spPr>
          <a:xfrm>
            <a:off x="1578934" y="291509"/>
            <a:ext cx="6542567" cy="472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Step 5: Secure Voting Interface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 Authenticated user can cast vote digitally.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 Vote is encrypted and securely stored in a database.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Step 6: Anti-Spoofing &amp; Security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 Liveness detection to prevent photo/video attacks.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	 Database encryption and secure login for admins.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b="1" dirty="0">
                <a:solidFill>
                  <a:srgbClr val="FFFFFF"/>
                </a:solidFill>
                <a:latin typeface="OpenSymbol"/>
              </a:rPr>
              <a:t>Tools &amp; Technologies</a:t>
            </a:r>
            <a:r>
              <a:rPr lang="en-US" dirty="0">
                <a:solidFill>
                  <a:srgbClr val="FFFFFF"/>
                </a:solidFill>
                <a:latin typeface="OpenSymbol"/>
              </a:rPr>
              <a:t>: Python, OpenCV, TensorFlow, MySQL, Flask 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CNN, NLP, Blockchain </a:t>
            </a:r>
            <a:r>
              <a:rPr lang="en-IN" dirty="0">
                <a:solidFill>
                  <a:srgbClr val="FFFFFF"/>
                </a:solidFill>
                <a:latin typeface="OpenSymbol"/>
              </a:rPr>
              <a:t>Technology</a:t>
            </a:r>
            <a:r>
              <a:rPr lang="en-US" dirty="0">
                <a:solidFill>
                  <a:srgbClr val="FFFFFF"/>
                </a:solidFill>
                <a:latin typeface="OpenSymbol"/>
              </a:rPr>
              <a:t>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b="1" dirty="0">
                <a:solidFill>
                  <a:srgbClr val="FFFFFF"/>
                </a:solidFill>
                <a:latin typeface="OpenSymbol"/>
              </a:rPr>
              <a:t>Our Contribution: </a:t>
            </a:r>
            <a:r>
              <a:rPr lang="en-US" dirty="0">
                <a:solidFill>
                  <a:srgbClr val="FFFFFF"/>
                </a:solidFill>
                <a:latin typeface="OpenSymbol"/>
              </a:rPr>
              <a:t>Build a complete smart voting system combining robust face recognition + secure voting interface for transparency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310198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acial Recognition Project for Online Voting System">
            <a:extLst>
              <a:ext uri="{FF2B5EF4-FFF2-40B4-BE49-F238E27FC236}">
                <a16:creationId xmlns:a16="http://schemas.microsoft.com/office/drawing/2014/main" id="{63DEDEC1-0CF6-A0B9-42F4-F8AA691EA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681038"/>
            <a:ext cx="516255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41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3DFA-06CC-F8CB-60C1-B54CBA93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>
            <a:extLst>
              <a:ext uri="{FF2B5EF4-FFF2-40B4-BE49-F238E27FC236}">
                <a16:creationId xmlns:a16="http://schemas.microsoft.com/office/drawing/2014/main" id="{57401D91-B4DD-2DE4-0533-C5BE6C3B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19" y="255715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Expected Outcomes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2">
            <a:extLst>
              <a:ext uri="{FF2B5EF4-FFF2-40B4-BE49-F238E27FC236}">
                <a16:creationId xmlns:a16="http://schemas.microsoft.com/office/drawing/2014/main" id="{0FEAB970-8B42-293A-18A7-01ABAB158AB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47719" y="1440624"/>
            <a:ext cx="6560615" cy="3223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Secure, automated voting system using biometric authentication.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Prevention of fake voting and impersonation.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Improved trust and transparency in elections.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/>
                <a:ea typeface="Actor"/>
              </a:rPr>
              <a:t>Potential real-world deployment for local and national elections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Utilize a flowchart showing system process.</a:t>
            </a:r>
            <a:endParaRPr lang="en-US" sz="1800" dirty="0">
              <a:solidFill>
                <a:srgbClr val="FFFFFF"/>
              </a:solidFill>
              <a:latin typeface="Calibri"/>
              <a:ea typeface="Actor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Implement facial recognition algorithms and secure data handling.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Expected outcomes include reduced fraud and increased trust in elections.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933023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95F3-007D-D348-FE13-7DEA334F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>
            <a:extLst>
              <a:ext uri="{FF2B5EF4-FFF2-40B4-BE49-F238E27FC236}">
                <a16:creationId xmlns:a16="http://schemas.microsoft.com/office/drawing/2014/main" id="{69CFD0C0-4241-9A10-1C37-0F6E4286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482" y="104496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Plan / Timeline</a:t>
            </a:r>
            <a:endParaRPr lang="fr-FR" sz="3000" b="1" u="none" strike="noStrike" dirty="0">
              <a:solidFill>
                <a:schemeClr val="dk1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9" name="PlaceHolder 2">
            <a:extLst>
              <a:ext uri="{FF2B5EF4-FFF2-40B4-BE49-F238E27FC236}">
                <a16:creationId xmlns:a16="http://schemas.microsoft.com/office/drawing/2014/main" id="{843A58C3-FD12-4EFF-D143-B3A2D8C4A98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48482" y="1453115"/>
            <a:ext cx="6489732" cy="32322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OpenSymbol"/>
              </a:rPr>
              <a:t>Phase 1: Literature Survey &amp; Requirement Analysis       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OpenSymbol"/>
              </a:rPr>
              <a:t>Phase 2: System Design &amp; Database Setup  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OpenSymbol"/>
              </a:rPr>
              <a:t>Phase 3: Implementation of Face Recognition Module   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OpenSymbol"/>
              </a:rPr>
              <a:t>Phase 4: Voting System Integration  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OpenSymbol"/>
              </a:rPr>
              <a:t>Phase 5: Testing, Evaluation &amp; Documentation   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229942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2840752" y="670678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Montserrat"/>
              </a:rPr>
              <a:t>Conclusion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 type="subTitle"/>
          </p:nvPr>
        </p:nvSpPr>
        <p:spPr>
          <a:xfrm>
            <a:off x="1577163" y="1841497"/>
            <a:ext cx="5989674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This project proposes a secure and efficient voting system using 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face recognition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Actor"/>
              </a:rPr>
              <a:t>. It aims to enhance election security, reduce fraud, and build public trust through innovative technology.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9A96-BB41-9723-E358-8CE369DC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819" y="608876"/>
            <a:ext cx="7703640" cy="572400"/>
          </a:xfrm>
        </p:spPr>
        <p:txBody>
          <a:bodyPr/>
          <a:lstStyle/>
          <a:p>
            <a:r>
              <a:rPr lang="en-IN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Reference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94E1C-5FE8-CBED-DF29-996C255D29D0}"/>
              </a:ext>
            </a:extLst>
          </p:cNvPr>
          <p:cNvSpPr txBox="1"/>
          <p:nvPr/>
        </p:nvSpPr>
        <p:spPr>
          <a:xfrm flipH="1">
            <a:off x="1892594" y="1736650"/>
            <a:ext cx="5989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Papers on Biometric and Face Recognition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Springer Journals on Smart Voting 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&amp; TensorFlow official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Election Commission Guidelines on Secure Voting Systems</a:t>
            </a:r>
          </a:p>
        </p:txBody>
      </p:sp>
    </p:spTree>
    <p:extLst>
      <p:ext uri="{BB962C8B-B14F-4D97-AF65-F5344CB8AC3E}">
        <p14:creationId xmlns:p14="http://schemas.microsoft.com/office/powerpoint/2010/main" val="3162102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C0A49-4592-1354-FF18-A800C80B3BF4}"/>
              </a:ext>
            </a:extLst>
          </p:cNvPr>
          <p:cNvSpPr txBox="1"/>
          <p:nvPr/>
        </p:nvSpPr>
        <p:spPr>
          <a:xfrm>
            <a:off x="3444949" y="1940808"/>
            <a:ext cx="56990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53865302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702</Words>
  <Application>Microsoft Office PowerPoint</Application>
  <PresentationFormat>On-screen Show (16:9)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Actor</vt:lpstr>
      <vt:lpstr>Arial</vt:lpstr>
      <vt:lpstr>Calibri</vt:lpstr>
      <vt:lpstr>Montserrat</vt:lpstr>
      <vt:lpstr>OpenSymbol</vt:lpstr>
      <vt:lpstr>Symbol</vt:lpstr>
      <vt:lpstr>Times New Roman</vt:lpstr>
      <vt:lpstr>Wingdings</vt:lpstr>
      <vt:lpstr>Artificial Intelligence in Finance Project Proposal by Slidesgo</vt:lpstr>
      <vt:lpstr>Artificial Intelligence in Finance Project Proposal by Slidesgo</vt:lpstr>
      <vt:lpstr>Slidesgo Final Pages</vt:lpstr>
      <vt:lpstr>Smart Voting System</vt:lpstr>
      <vt:lpstr>Project:- Smart Voting System Using Face Recognition  </vt:lpstr>
      <vt:lpstr>Introduction</vt:lpstr>
      <vt:lpstr>Problem Statement</vt:lpstr>
      <vt:lpstr>Objectives</vt:lpstr>
      <vt:lpstr>Overview of Smart Voting System</vt:lpstr>
      <vt:lpstr>Scope of Work</vt:lpstr>
      <vt:lpstr>Literature Review</vt:lpstr>
      <vt:lpstr>Methodology</vt:lpstr>
      <vt:lpstr>PowerPoint Presentation</vt:lpstr>
      <vt:lpstr>PowerPoint Presentation</vt:lpstr>
      <vt:lpstr>Expected Outcomes</vt:lpstr>
      <vt:lpstr>Work Plan / Timeline</vt:lpstr>
      <vt:lpstr>Conclusion</vt:lpstr>
      <vt:lpstr>            Reference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Shreyash Babar</dc:creator>
  <cp:lastModifiedBy>Aditya Kapure</cp:lastModifiedBy>
  <cp:revision>4</cp:revision>
  <dcterms:modified xsi:type="dcterms:W3CDTF">2025-11-04T07:04:39Z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2025-09-07T15:07:22Z</dcterms:created>
  <dc:creator>Unknown Creator</dc:creator>
  <dc:description/>
  <dc:language>en-US</dc:language>
  <cp:lastModifiedBy>Unknown Creator</cp:lastModifiedBy>
  <dcterms:modified xsi:type="dcterms:W3CDTF">2025-09-07T15:07:22Z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